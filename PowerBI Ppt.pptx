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58" r:id="rId4"/>
    <p:sldId id="260" r:id="rId5"/>
    <p:sldId id="261" r:id="rId6"/>
    <p:sldId id="262" r:id="rId7"/>
    <p:sldId id="279" r:id="rId8"/>
    <p:sldId id="288" r:id="rId9"/>
    <p:sldId id="289" r:id="rId10"/>
    <p:sldId id="290" r:id="rId11"/>
    <p:sldId id="280" r:id="rId12"/>
    <p:sldId id="281" r:id="rId13"/>
    <p:sldId id="259" r:id="rId14"/>
  </p:sldIdLst>
  <p:sldSz cx="12192000" cy="6858000"/>
  <p:notesSz cx="6858000" cy="9144000"/>
  <p:embeddedFontLst>
    <p:embeddedFont>
      <p:font typeface="Lato Black" panose="020F0502020204030203" pitchFamily="34" charset="0"/>
      <p:bold r:id="rId16"/>
      <p:boldItalic r:id="rId17"/>
    </p:embeddedFont>
    <p:embeddedFont>
      <p:font typeface="Libre Baskerville" panose="020000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8"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4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ngireddy Uttejreddy" userId="40c76269312ec739" providerId="LiveId" clId="{E3E871F0-D948-47D9-9BE9-667F0EB3AF48}"/>
    <pc:docChg chg="modSld">
      <pc:chgData name="Gangireddy Uttejreddy" userId="40c76269312ec739" providerId="LiveId" clId="{E3E871F0-D948-47D9-9BE9-667F0EB3AF48}" dt="2026-05-12T09:16:25.361" v="16" actId="20577"/>
      <pc:docMkLst>
        <pc:docMk/>
      </pc:docMkLst>
      <pc:sldChg chg="modSp mod">
        <pc:chgData name="Gangireddy Uttejreddy" userId="40c76269312ec739" providerId="LiveId" clId="{E3E871F0-D948-47D9-9BE9-667F0EB3AF48}" dt="2026-05-12T09:15:50.159" v="11" actId="20577"/>
        <pc:sldMkLst>
          <pc:docMk/>
          <pc:sldMk cId="0" sldId="258"/>
        </pc:sldMkLst>
        <pc:spChg chg="mod">
          <ac:chgData name="Gangireddy Uttejreddy" userId="40c76269312ec739" providerId="LiveId" clId="{E3E871F0-D948-47D9-9BE9-667F0EB3AF48}" dt="2026-05-12T09:15:50.159" v="11" actId="20577"/>
          <ac:spMkLst>
            <pc:docMk/>
            <pc:sldMk cId="0" sldId="258"/>
            <ac:spMk id="111" creationId="{00000000-0000-0000-0000-000000000000}"/>
          </ac:spMkLst>
        </pc:spChg>
      </pc:sldChg>
      <pc:sldChg chg="modSp mod">
        <pc:chgData name="Gangireddy Uttejreddy" userId="40c76269312ec739" providerId="LiveId" clId="{E3E871F0-D948-47D9-9BE9-667F0EB3AF48}" dt="2026-05-12T09:15:59.426" v="12" actId="20577"/>
        <pc:sldMkLst>
          <pc:docMk/>
          <pc:sldMk cId="2432218554" sldId="279"/>
        </pc:sldMkLst>
        <pc:spChg chg="mod">
          <ac:chgData name="Gangireddy Uttejreddy" userId="40c76269312ec739" providerId="LiveId" clId="{E3E871F0-D948-47D9-9BE9-667F0EB3AF48}" dt="2026-05-12T09:15:59.426" v="12" actId="20577"/>
          <ac:spMkLst>
            <pc:docMk/>
            <pc:sldMk cId="2432218554" sldId="279"/>
            <ac:spMk id="2" creationId="{4460D226-CD79-D48F-E6E9-ADA7E13318B1}"/>
          </ac:spMkLst>
        </pc:spChg>
        <pc:picChg chg="mod">
          <ac:chgData name="Gangireddy Uttejreddy" userId="40c76269312ec739" providerId="LiveId" clId="{E3E871F0-D948-47D9-9BE9-667F0EB3AF48}" dt="2026-05-11T13:20:44.434" v="10" actId="14100"/>
          <ac:picMkLst>
            <pc:docMk/>
            <pc:sldMk cId="2432218554" sldId="279"/>
            <ac:picMk id="5" creationId="{47D3BF1C-EECE-B23F-9246-BBA67E1BE9E7}"/>
          </ac:picMkLst>
        </pc:picChg>
      </pc:sldChg>
      <pc:sldChg chg="modSp mod">
        <pc:chgData name="Gangireddy Uttejreddy" userId="40c76269312ec739" providerId="LiveId" clId="{E3E871F0-D948-47D9-9BE9-667F0EB3AF48}" dt="2026-05-12T09:16:18.598" v="15" actId="20577"/>
        <pc:sldMkLst>
          <pc:docMk/>
          <pc:sldMk cId="3755652827" sldId="288"/>
        </pc:sldMkLst>
        <pc:spChg chg="mod">
          <ac:chgData name="Gangireddy Uttejreddy" userId="40c76269312ec739" providerId="LiveId" clId="{E3E871F0-D948-47D9-9BE9-667F0EB3AF48}" dt="2026-05-12T09:16:18.598" v="15" actId="20577"/>
          <ac:spMkLst>
            <pc:docMk/>
            <pc:sldMk cId="3755652827" sldId="288"/>
            <ac:spMk id="2" creationId="{8A2C9644-C0CA-8099-90C7-E1CEDB5395E4}"/>
          </ac:spMkLst>
        </pc:spChg>
      </pc:sldChg>
      <pc:sldChg chg="modSp mod">
        <pc:chgData name="Gangireddy Uttejreddy" userId="40c76269312ec739" providerId="LiveId" clId="{E3E871F0-D948-47D9-9BE9-667F0EB3AF48}" dt="2026-05-11T13:20:15.573" v="5" actId="20577"/>
        <pc:sldMkLst>
          <pc:docMk/>
          <pc:sldMk cId="2292522787" sldId="289"/>
        </pc:sldMkLst>
        <pc:spChg chg="mod">
          <ac:chgData name="Gangireddy Uttejreddy" userId="40c76269312ec739" providerId="LiveId" clId="{E3E871F0-D948-47D9-9BE9-667F0EB3AF48}" dt="2026-05-11T13:20:15.573" v="5" actId="20577"/>
          <ac:spMkLst>
            <pc:docMk/>
            <pc:sldMk cId="2292522787" sldId="289"/>
            <ac:spMk id="2" creationId="{4A2ADD89-4F6F-7D70-053E-034ED7800A39}"/>
          </ac:spMkLst>
        </pc:spChg>
      </pc:sldChg>
      <pc:sldChg chg="modSp mod">
        <pc:chgData name="Gangireddy Uttejreddy" userId="40c76269312ec739" providerId="LiveId" clId="{E3E871F0-D948-47D9-9BE9-667F0EB3AF48}" dt="2026-05-12T09:16:25.361" v="16" actId="20577"/>
        <pc:sldMkLst>
          <pc:docMk/>
          <pc:sldMk cId="214530833" sldId="290"/>
        </pc:sldMkLst>
        <pc:spChg chg="mod">
          <ac:chgData name="Gangireddy Uttejreddy" userId="40c76269312ec739" providerId="LiveId" clId="{E3E871F0-D948-47D9-9BE9-667F0EB3AF48}" dt="2026-05-12T09:16:25.361" v="16" actId="20577"/>
          <ac:spMkLst>
            <pc:docMk/>
            <pc:sldMk cId="214530833" sldId="290"/>
            <ac:spMk id="2" creationId="{64EDA8EE-7EA3-8FFD-23DC-D1C77367F178}"/>
          </ac:spMkLst>
        </pc:spChg>
      </pc:sldChg>
      <pc:sldChg chg="modSp mod">
        <pc:chgData name="Gangireddy Uttejreddy" userId="40c76269312ec739" providerId="LiveId" clId="{E3E871F0-D948-47D9-9BE9-667F0EB3AF48}" dt="2026-05-11T13:19:57.861" v="1" actId="20577"/>
        <pc:sldMkLst>
          <pc:docMk/>
          <pc:sldMk cId="714829399" sldId="291"/>
        </pc:sldMkLst>
        <pc:spChg chg="mod">
          <ac:chgData name="Gangireddy Uttejreddy" userId="40c76269312ec739" providerId="LiveId" clId="{E3E871F0-D948-47D9-9BE9-667F0EB3AF48}" dt="2026-05-11T13:19:57.861" v="1" actId="20577"/>
          <ac:spMkLst>
            <pc:docMk/>
            <pc:sldMk cId="714829399" sldId="291"/>
            <ac:spMk id="2" creationId="{96122984-4DC9-C473-F35F-EAE23C41510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gangireddy-uttej-reddy-12376029b"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github.com/kishore-345" TargetMode="External"/><Relationship Id="rId5" Type="http://schemas.openxmlformats.org/officeDocument/2006/relationships/hyperlink" Target="http://www.linkedin.com/in/mandadi-kishore-reddy-bb243a287" TargetMode="External"/><Relationship Id="rId4" Type="http://schemas.openxmlformats.org/officeDocument/2006/relationships/hyperlink" Target="https://github.com/Gangireddy-uttej-redd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91783"/>
            <a:ext cx="12190815" cy="6694098"/>
          </a:xfrm>
          <a:prstGeom prst="rect">
            <a:avLst/>
          </a:prstGeom>
          <a:noFill/>
          <a:ln>
            <a:noFill/>
          </a:ln>
        </p:spPr>
      </p:pic>
      <p:sp>
        <p:nvSpPr>
          <p:cNvPr id="99" name="Google Shape;99;p1"/>
          <p:cNvSpPr txBox="1"/>
          <p:nvPr/>
        </p:nvSpPr>
        <p:spPr>
          <a:xfrm>
            <a:off x="2472905" y="3580334"/>
            <a:ext cx="7246189" cy="1569620"/>
          </a:xfrm>
          <a:prstGeom prst="rect">
            <a:avLst/>
          </a:prstGeom>
          <a:noFill/>
          <a:ln>
            <a:noFill/>
          </a:ln>
        </p:spPr>
        <p:txBody>
          <a:bodyPr spcFirstLastPara="1" wrap="square" lIns="91425" tIns="45700" rIns="91425" bIns="45700" anchor="t" anchorCtr="0">
            <a:spAutoFit/>
          </a:bodyPr>
          <a:lstStyle/>
          <a:p>
            <a:pPr lvl="0" algn="ctr">
              <a:buSzPts val="1800"/>
            </a:pPr>
            <a:r>
              <a:rPr lang="en-US" sz="3200" b="1" dirty="0"/>
              <a:t>EV Analytics Dashboard Using Power BI</a:t>
            </a:r>
            <a:br>
              <a:rPr lang="en-IN" sz="3200" b="1" u="sng" dirty="0"/>
            </a:br>
            <a:endParaRPr sz="3200" b="1" i="0" u="none" strike="noStrike" cap="none" dirty="0">
              <a:solidFill>
                <a:srgbClr val="000000"/>
              </a:solidFill>
              <a:latin typeface="Arial"/>
              <a:ea typeface="Arial"/>
              <a:cs typeface="Arial"/>
              <a:sym typeface="Arial"/>
            </a:endParaRPr>
          </a:p>
        </p:txBody>
      </p:sp>
      <p:sp>
        <p:nvSpPr>
          <p:cNvPr id="2" name="TextBox 1">
            <a:extLst>
              <a:ext uri="{FF2B5EF4-FFF2-40B4-BE49-F238E27FC236}">
                <a16:creationId xmlns:a16="http://schemas.microsoft.com/office/drawing/2014/main" id="{0BA2DC60-393F-9FE0-5E6E-DB16D1A5B10D}"/>
              </a:ext>
            </a:extLst>
          </p:cNvPr>
          <p:cNvSpPr txBox="1"/>
          <p:nvPr/>
        </p:nvSpPr>
        <p:spPr>
          <a:xfrm>
            <a:off x="8090247" y="5044587"/>
            <a:ext cx="4186990" cy="923330"/>
          </a:xfrm>
          <a:prstGeom prst="rect">
            <a:avLst/>
          </a:prstGeom>
          <a:noFill/>
        </p:spPr>
        <p:txBody>
          <a:bodyPr wrap="square" rtlCol="0">
            <a:spAutoFit/>
          </a:bodyPr>
          <a:lstStyle/>
          <a:p>
            <a:r>
              <a:rPr lang="en-US" sz="1800" b="1" dirty="0"/>
              <a:t>Batch 484</a:t>
            </a:r>
          </a:p>
          <a:p>
            <a:r>
              <a:rPr lang="en-US" sz="1800" b="1" dirty="0"/>
              <a:t>G. </a:t>
            </a:r>
            <a:r>
              <a:rPr lang="en-US" sz="1800" b="1" dirty="0" err="1"/>
              <a:t>Uttej</a:t>
            </a:r>
            <a:r>
              <a:rPr lang="en-US" sz="1800" b="1" dirty="0"/>
              <a:t> Reddy</a:t>
            </a:r>
          </a:p>
          <a:p>
            <a:r>
              <a:rPr lang="en-US" sz="1800" b="1" dirty="0"/>
              <a:t>M. Kishore Reddy</a:t>
            </a:r>
            <a:endParaRPr lang="en-IN" sz="1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737811" y="1299172"/>
            <a:ext cx="11277725" cy="4524275"/>
          </a:xfrm>
          <a:prstGeom prst="rect">
            <a:avLst/>
          </a:prstGeom>
          <a:noFill/>
          <a:ln>
            <a:noFill/>
          </a:ln>
        </p:spPr>
        <p:txBody>
          <a:bodyPr spcFirstLastPara="1" wrap="square" lIns="91425" tIns="45700" rIns="91425" bIns="45700" anchor="t" anchorCtr="0">
            <a:spAutoFit/>
          </a:bodyPr>
          <a:lstStyle/>
          <a:p>
            <a:pPr marL="342900" indent="-342900">
              <a:buFont typeface="Wingdings" panose="05000000000000000000" pitchFamily="2" charset="2"/>
              <a:buChar char="§"/>
            </a:pPr>
            <a:r>
              <a:rPr lang="en-IN" sz="2400" b="1" dirty="0"/>
              <a:t> G. </a:t>
            </a:r>
            <a:r>
              <a:rPr lang="en-IN" sz="2400" b="1" dirty="0" err="1"/>
              <a:t>Uttej</a:t>
            </a:r>
            <a:r>
              <a:rPr lang="en-IN" sz="2400" b="1" dirty="0"/>
              <a:t> Reddy</a:t>
            </a:r>
          </a:p>
          <a:p>
            <a:pPr marL="342900" indent="-342900">
              <a:buFont typeface="Arial" panose="020B0604020202020204" pitchFamily="34" charset="0"/>
              <a:buChar char="•"/>
            </a:pPr>
            <a:r>
              <a:rPr lang="en-IN" sz="2400" dirty="0"/>
              <a:t>Pursuing B.Tech (IT) at Anurag University </a:t>
            </a:r>
          </a:p>
          <a:p>
            <a:pPr marL="342900" indent="-342900">
              <a:buFont typeface="Arial" panose="020B0604020202020204" pitchFamily="34" charset="0"/>
              <a:buChar char="•"/>
            </a:pPr>
            <a:r>
              <a:rPr lang="en-US" sz="2400" dirty="0"/>
              <a:t>Interested in Data Analytics to analyze data, solve real-world problems, and make smart decisions using technology</a:t>
            </a:r>
          </a:p>
          <a:p>
            <a:pPr marL="342900" indent="-342900">
              <a:buFont typeface="Arial" panose="020B0604020202020204" pitchFamily="34" charset="0"/>
              <a:buChar char="•"/>
            </a:pPr>
            <a:r>
              <a:rPr lang="en-IN" sz="2400" dirty="0"/>
              <a:t>LinkedIn: </a:t>
            </a:r>
            <a:r>
              <a:rPr lang="en-IN" sz="2400" dirty="0">
                <a:hlinkClick r:id="rId3"/>
              </a:rPr>
              <a:t>www.linkedin.com/in/gangireddy-uttej-reddy-12376029b</a:t>
            </a:r>
            <a:endParaRPr lang="en-IN" sz="2400" dirty="0"/>
          </a:p>
          <a:p>
            <a:pPr marL="342900" indent="-342900">
              <a:buFont typeface="Arial" panose="020B0604020202020204" pitchFamily="34" charset="0"/>
              <a:buChar char="•"/>
            </a:pPr>
            <a:r>
              <a:rPr lang="en-IN" sz="2400" dirty="0"/>
              <a:t>GitHub: </a:t>
            </a:r>
            <a:r>
              <a:rPr lang="en-IN" sz="2400" dirty="0">
                <a:hlinkClick r:id="rId4"/>
              </a:rPr>
              <a:t>https://github.com/Gangireddy-uttej-reddy</a:t>
            </a:r>
            <a:endParaRPr lang="en-IN" sz="2400" dirty="0"/>
          </a:p>
          <a:p>
            <a:pPr marL="342900" indent="-342900">
              <a:buFont typeface="Wingdings" panose="05000000000000000000" pitchFamily="2" charset="2"/>
              <a:buChar char="§"/>
            </a:pPr>
            <a:r>
              <a:rPr lang="en-IN" sz="2400" b="1" dirty="0"/>
              <a:t> M. Kishore Reddy</a:t>
            </a:r>
          </a:p>
          <a:p>
            <a:pPr marL="342900" indent="-342900">
              <a:buFont typeface="Arial" panose="020B0604020202020204" pitchFamily="34" charset="0"/>
              <a:buChar char="•"/>
            </a:pPr>
            <a:r>
              <a:rPr lang="en-IN" sz="2400" dirty="0"/>
              <a:t>Pursuing B.Tech (IT) at Anurag University </a:t>
            </a:r>
          </a:p>
          <a:p>
            <a:pPr marL="342900" indent="-342900">
              <a:buFont typeface="Arial" panose="020B0604020202020204" pitchFamily="34" charset="0"/>
              <a:buChar char="•"/>
            </a:pPr>
            <a:r>
              <a:rPr lang="en-US" sz="2400" dirty="0"/>
              <a:t>Interested in Data Analytics because it combines programming, analytics, and business insights to create impactful solutions</a:t>
            </a:r>
            <a:endParaRPr lang="en-IN" sz="2400" dirty="0"/>
          </a:p>
          <a:p>
            <a:pPr marL="342900" indent="-342900">
              <a:buFont typeface="Arial" panose="020B0604020202020204" pitchFamily="34" charset="0"/>
              <a:buChar char="•"/>
            </a:pPr>
            <a:r>
              <a:rPr lang="en-IN" sz="2400" dirty="0"/>
              <a:t>LinkedIn: </a:t>
            </a:r>
            <a:r>
              <a:rPr lang="en-IN" sz="2400" dirty="0">
                <a:hlinkClick r:id="rId5"/>
              </a:rPr>
              <a:t>http://www.linkedin.com/in/mandadi-kishore-reddy-bb243a287</a:t>
            </a:r>
            <a:endParaRPr lang="en-IN" sz="2400" dirty="0"/>
          </a:p>
          <a:p>
            <a:pPr marL="342900" indent="-342900">
              <a:buFont typeface="Arial" panose="020B0604020202020204" pitchFamily="34" charset="0"/>
              <a:buChar char="•"/>
            </a:pPr>
            <a:r>
              <a:rPr lang="en-IN" sz="2400" dirty="0"/>
              <a:t>GitHub: </a:t>
            </a:r>
            <a:r>
              <a:rPr lang="en-IN" sz="2400" dirty="0">
                <a:hlinkClick r:id="rId6"/>
              </a:rPr>
              <a:t>https://github.com/kishore-345</a:t>
            </a:r>
            <a:endParaRPr lang="en-IN" sz="2400" dirty="0"/>
          </a:p>
        </p:txBody>
      </p:sp>
      <p:sp>
        <p:nvSpPr>
          <p:cNvPr id="105" name="Google Shape;105;p3"/>
          <p:cNvSpPr txBox="1"/>
          <p:nvPr/>
        </p:nvSpPr>
        <p:spPr>
          <a:xfrm>
            <a:off x="427656" y="416554"/>
            <a:ext cx="6099600" cy="486247"/>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a:solidFill>
                  <a:srgbClr val="FF0000"/>
                </a:solidFill>
              </a:rPr>
              <a:t>Agenda   </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US" sz="2400" b="1" dirty="0"/>
              <a:t>Business Problem</a:t>
            </a:r>
            <a:endParaRPr sz="2400" dirty="0"/>
          </a:p>
          <a:p>
            <a:pPr marL="457200" lvl="0" indent="-431800" algn="l" rtl="0">
              <a:lnSpc>
                <a:spcPct val="90000"/>
              </a:lnSpc>
              <a:spcBef>
                <a:spcPts val="1000"/>
              </a:spcBef>
              <a:spcAft>
                <a:spcPts val="0"/>
              </a:spcAft>
              <a:buSzPts val="2400"/>
              <a:buChar char="•"/>
            </a:pPr>
            <a:r>
              <a:rPr lang="en-US" sz="2400" b="1" dirty="0"/>
              <a:t>Problem Statement</a:t>
            </a:r>
            <a:endParaRPr sz="2400" dirty="0"/>
          </a:p>
          <a:p>
            <a:pPr marL="457200" lvl="0" indent="-431800" algn="l" rtl="0">
              <a:lnSpc>
                <a:spcPct val="90000"/>
              </a:lnSpc>
              <a:spcBef>
                <a:spcPts val="1000"/>
              </a:spcBef>
              <a:spcAft>
                <a:spcPts val="0"/>
              </a:spcAft>
              <a:buSzPts val="2400"/>
              <a:buChar char="•"/>
            </a:pPr>
            <a:r>
              <a:rPr lang="en-US" sz="2400" b="1" dirty="0"/>
              <a:t>Objective</a:t>
            </a:r>
          </a:p>
          <a:p>
            <a:pPr marL="457200" lvl="0" indent="-431800" algn="l" rtl="0">
              <a:lnSpc>
                <a:spcPct val="90000"/>
              </a:lnSpc>
              <a:spcBef>
                <a:spcPts val="1000"/>
              </a:spcBef>
              <a:spcAft>
                <a:spcPts val="0"/>
              </a:spcAft>
              <a:buSzPts val="2400"/>
              <a:buChar char="•"/>
            </a:pPr>
            <a:r>
              <a:rPr lang="en-US" sz="2400" b="1" dirty="0" err="1"/>
              <a:t>DashBoard</a:t>
            </a:r>
            <a:endParaRPr lang="en-IN" sz="2400" b="1" dirty="0"/>
          </a:p>
          <a:p>
            <a:pPr marL="457200" lvl="0" indent="-431800" algn="l" rtl="0">
              <a:lnSpc>
                <a:spcPct val="90000"/>
              </a:lnSpc>
              <a:spcBef>
                <a:spcPts val="1000"/>
              </a:spcBef>
              <a:spcAft>
                <a:spcPts val="0"/>
              </a:spcAft>
              <a:buSzPts val="2400"/>
              <a:buChar char="•"/>
            </a:pPr>
            <a:r>
              <a:rPr lang="en-IN" sz="2400" b="1" dirty="0"/>
              <a:t>Conclusion</a:t>
            </a:r>
          </a:p>
          <a:p>
            <a:pPr marL="457200" lvl="0" indent="-431800" algn="l" rtl="0">
              <a:lnSpc>
                <a:spcPct val="90000"/>
              </a:lnSpc>
              <a:spcBef>
                <a:spcPts val="1000"/>
              </a:spcBef>
              <a:spcAft>
                <a:spcPts val="0"/>
              </a:spcAft>
              <a:buSzPts val="2400"/>
              <a:buChar char="•"/>
            </a:pPr>
            <a:r>
              <a:rPr lang="en-IN" sz="2400" b="1" dirty="0"/>
              <a:t>Recommendation</a:t>
            </a:r>
          </a:p>
          <a:p>
            <a:pPr lvl="0" indent="-431800">
              <a:buSzPts val="2400"/>
            </a:pPr>
            <a:r>
              <a:rPr lang="en-IN" b="1" dirty="0"/>
              <a:t>Thank you</a:t>
            </a:r>
            <a:endParaRP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7A20A-2D20-34B7-FEB0-BBBC6493D15A}"/>
              </a:ext>
            </a:extLst>
          </p:cNvPr>
          <p:cNvSpPr>
            <a:spLocks noGrp="1"/>
          </p:cNvSpPr>
          <p:nvPr>
            <p:ph type="title"/>
          </p:nvPr>
        </p:nvSpPr>
        <p:spPr/>
        <p:txBody>
          <a:bodyPr/>
          <a:lstStyle/>
          <a:p>
            <a:r>
              <a:rPr lang="en-US" b="1" dirty="0">
                <a:solidFill>
                  <a:srgbClr val="FF0000"/>
                </a:solidFill>
              </a:rPr>
              <a:t>Business Problem</a:t>
            </a:r>
            <a:endParaRPr lang="en-IN" b="1" dirty="0">
              <a:solidFill>
                <a:srgbClr val="FF0000"/>
              </a:solidFill>
            </a:endParaRPr>
          </a:p>
        </p:txBody>
      </p:sp>
      <p:sp>
        <p:nvSpPr>
          <p:cNvPr id="3" name="Text Placeholder 2">
            <a:extLst>
              <a:ext uri="{FF2B5EF4-FFF2-40B4-BE49-F238E27FC236}">
                <a16:creationId xmlns:a16="http://schemas.microsoft.com/office/drawing/2014/main" id="{EB7CED01-C445-C7BF-5815-F510DB89942C}"/>
              </a:ext>
            </a:extLst>
          </p:cNvPr>
          <p:cNvSpPr>
            <a:spLocks noGrp="1"/>
          </p:cNvSpPr>
          <p:nvPr>
            <p:ph type="body" idx="1"/>
          </p:nvPr>
        </p:nvSpPr>
        <p:spPr/>
        <p:txBody>
          <a:bodyPr>
            <a:normAutofit fontScale="77500" lnSpcReduction="20000"/>
          </a:bodyPr>
          <a:lstStyle/>
          <a:p>
            <a:r>
              <a:rPr lang="en-US" dirty="0"/>
              <a:t>The global adoption of Electric Vehicles (EVs) is increasing rapidly, generating large volumes of data related to EV sales, stock, energy consumption, powertrains, transport modes, and regional performance. However, analyzing this data manually is difficult and time-consuming due to the complexity and diversity of the information.</a:t>
            </a:r>
          </a:p>
          <a:p>
            <a:endParaRPr lang="en-US" dirty="0"/>
          </a:p>
          <a:p>
            <a:r>
              <a:rPr lang="en-US" dirty="0"/>
              <a:t>Organizations, policymakers, and analysts need an efficient way to monitor EV growth trends, compare regional adoption patterns, understand powertrain performance, and identify key market insights. Without a centralized analytics system, it becomes challenging to make data-driven decisions and track the progress of EV adoption effectively.</a:t>
            </a:r>
          </a:p>
          <a:p>
            <a:endParaRPr lang="en-US" dirty="0"/>
          </a:p>
          <a:p>
            <a:r>
              <a:rPr lang="en-US" dirty="0"/>
              <a:t>To address this challenge, an interactive Power BI dashboard was developed to transform raw EV data into meaningful visual insights through trend analysis, comparative analysis, KPI tracking, and dynamic visualizations.</a:t>
            </a:r>
            <a:endParaRPr lang="en-IN" dirty="0"/>
          </a:p>
        </p:txBody>
      </p:sp>
    </p:spTree>
    <p:extLst>
      <p:ext uri="{BB962C8B-B14F-4D97-AF65-F5344CB8AC3E}">
        <p14:creationId xmlns:p14="http://schemas.microsoft.com/office/powerpoint/2010/main" val="213309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23472-DA23-9029-F380-4956E95E4D26}"/>
              </a:ext>
            </a:extLst>
          </p:cNvPr>
          <p:cNvSpPr>
            <a:spLocks noGrp="1"/>
          </p:cNvSpPr>
          <p:nvPr>
            <p:ph type="title"/>
          </p:nvPr>
        </p:nvSpPr>
        <p:spPr/>
        <p:txBody>
          <a:bodyPr/>
          <a:lstStyle/>
          <a:p>
            <a:r>
              <a:rPr lang="en-US" b="1" dirty="0">
                <a:solidFill>
                  <a:srgbClr val="FF0000"/>
                </a:solidFill>
              </a:rPr>
              <a:t>Problem Statement</a:t>
            </a:r>
            <a:endParaRPr lang="en-IN" b="1" dirty="0">
              <a:solidFill>
                <a:srgbClr val="FF0000"/>
              </a:solidFill>
            </a:endParaRPr>
          </a:p>
        </p:txBody>
      </p:sp>
      <p:sp>
        <p:nvSpPr>
          <p:cNvPr id="3" name="Text Placeholder 2">
            <a:extLst>
              <a:ext uri="{FF2B5EF4-FFF2-40B4-BE49-F238E27FC236}">
                <a16:creationId xmlns:a16="http://schemas.microsoft.com/office/drawing/2014/main" id="{217678BE-A89C-2138-1113-E4165CA82F33}"/>
              </a:ext>
            </a:extLst>
          </p:cNvPr>
          <p:cNvSpPr>
            <a:spLocks noGrp="1"/>
          </p:cNvSpPr>
          <p:nvPr>
            <p:ph type="body" idx="1"/>
          </p:nvPr>
        </p:nvSpPr>
        <p:spPr>
          <a:xfrm>
            <a:off x="838199" y="1825625"/>
            <a:ext cx="10824411" cy="3452228"/>
          </a:xfrm>
        </p:spPr>
        <p:txBody>
          <a:bodyPr>
            <a:normAutofit fontScale="85000" lnSpcReduction="20000"/>
          </a:bodyPr>
          <a:lstStyle/>
          <a:p>
            <a:r>
              <a:rPr lang="en-US" dirty="0"/>
              <a:t>The increasing growth of Electric Vehicle (EV) data across multiple regions, categories, and powertrain types has made it difficult to analyze trends and extract meaningful insights using traditional methods. The raw dataset contains complex information related to EV sales, stock, registrations, energy consumption, and transport modes, which requires proper cleaning, transformation, and visualization.</a:t>
            </a:r>
          </a:p>
          <a:p>
            <a:endParaRPr lang="en-US" dirty="0"/>
          </a:p>
          <a:p>
            <a:r>
              <a:rPr lang="en-US" dirty="0"/>
              <a:t>The main problem is to build an interactive and visually effective Power BI dashboard that can analyze EV growth trends, compare regional and powertrain performance, monitor category-wise adoption, and provide time-series insights for better understanding and decision-making.</a:t>
            </a:r>
            <a:endParaRPr lang="en-IN" dirty="0"/>
          </a:p>
        </p:txBody>
      </p:sp>
    </p:spTree>
    <p:extLst>
      <p:ext uri="{BB962C8B-B14F-4D97-AF65-F5344CB8AC3E}">
        <p14:creationId xmlns:p14="http://schemas.microsoft.com/office/powerpoint/2010/main" val="267494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2491-2261-CB27-3903-71E8EECDD4E7}"/>
              </a:ext>
            </a:extLst>
          </p:cNvPr>
          <p:cNvSpPr>
            <a:spLocks noGrp="1"/>
          </p:cNvSpPr>
          <p:nvPr>
            <p:ph type="title"/>
          </p:nvPr>
        </p:nvSpPr>
        <p:spPr/>
        <p:txBody>
          <a:bodyPr/>
          <a:lstStyle/>
          <a:p>
            <a:r>
              <a:rPr lang="en-US" b="1" dirty="0">
                <a:solidFill>
                  <a:srgbClr val="FF0000"/>
                </a:solidFill>
              </a:rPr>
              <a:t>Objective</a:t>
            </a:r>
            <a:endParaRPr lang="en-IN" b="1" dirty="0">
              <a:solidFill>
                <a:srgbClr val="FF0000"/>
              </a:solidFill>
            </a:endParaRPr>
          </a:p>
        </p:txBody>
      </p:sp>
      <p:sp>
        <p:nvSpPr>
          <p:cNvPr id="3" name="Text Placeholder 2">
            <a:extLst>
              <a:ext uri="{FF2B5EF4-FFF2-40B4-BE49-F238E27FC236}">
                <a16:creationId xmlns:a16="http://schemas.microsoft.com/office/drawing/2014/main" id="{B48725A3-1B70-8868-7560-24FD4EA74DEC}"/>
              </a:ext>
            </a:extLst>
          </p:cNvPr>
          <p:cNvSpPr>
            <a:spLocks noGrp="1"/>
          </p:cNvSpPr>
          <p:nvPr>
            <p:ph type="body" idx="1"/>
          </p:nvPr>
        </p:nvSpPr>
        <p:spPr>
          <a:xfrm>
            <a:off x="838200" y="1347537"/>
            <a:ext cx="11353800" cy="4829426"/>
          </a:xfrm>
        </p:spPr>
        <p:txBody>
          <a:bodyPr>
            <a:normAutofit fontScale="55000" lnSpcReduction="20000"/>
          </a:bodyPr>
          <a:lstStyle/>
          <a:p>
            <a:pPr marL="114300" indent="0">
              <a:buNone/>
            </a:pPr>
            <a:r>
              <a:rPr lang="en-US" dirty="0"/>
              <a:t>• To analyze global Electric Vehicle (EV) growth trends over time</a:t>
            </a:r>
          </a:p>
          <a:p>
            <a:endParaRPr lang="en-US" dirty="0"/>
          </a:p>
          <a:p>
            <a:pPr marL="114300" indent="0">
              <a:buNone/>
            </a:pPr>
            <a:r>
              <a:rPr lang="en-US" dirty="0"/>
              <a:t>• To compare EV adoption across different regions and categories</a:t>
            </a:r>
          </a:p>
          <a:p>
            <a:endParaRPr lang="en-US" dirty="0"/>
          </a:p>
          <a:p>
            <a:pPr marL="114300" indent="0">
              <a:buNone/>
            </a:pPr>
            <a:r>
              <a:rPr lang="en-US" dirty="0"/>
              <a:t>• To study the distribution and growth of different powertrain types such as BEV, PHEV, and FCEV</a:t>
            </a:r>
          </a:p>
          <a:p>
            <a:endParaRPr lang="en-US" dirty="0"/>
          </a:p>
          <a:p>
            <a:pPr marL="114300" indent="0">
              <a:buNone/>
            </a:pPr>
            <a:r>
              <a:rPr lang="en-US" dirty="0"/>
              <a:t>• To analyze EV sales, stock, registrations, and energy consumption patterns</a:t>
            </a:r>
          </a:p>
          <a:p>
            <a:endParaRPr lang="en-US" dirty="0"/>
          </a:p>
          <a:p>
            <a:pPr marL="114300" indent="0">
              <a:buNone/>
            </a:pPr>
            <a:r>
              <a:rPr lang="en-US" dirty="0"/>
              <a:t>• To perform time-series and comparative analysis using interactive visualizations</a:t>
            </a:r>
          </a:p>
          <a:p>
            <a:endParaRPr lang="en-US" dirty="0"/>
          </a:p>
          <a:p>
            <a:pPr marL="114300" indent="0">
              <a:buNone/>
            </a:pPr>
            <a:r>
              <a:rPr lang="en-US" dirty="0"/>
              <a:t>• To create calculated columns and measures using DAX for better insights</a:t>
            </a:r>
          </a:p>
          <a:p>
            <a:endParaRPr lang="en-US" dirty="0"/>
          </a:p>
          <a:p>
            <a:pPr marL="114300" indent="0">
              <a:buNone/>
            </a:pPr>
            <a:r>
              <a:rPr lang="en-US" dirty="0"/>
              <a:t>• To build an interactive and visually appealing dashboard using Power BI</a:t>
            </a:r>
          </a:p>
          <a:p>
            <a:endParaRPr lang="en-US" dirty="0"/>
          </a:p>
          <a:p>
            <a:pPr marL="114300" indent="0">
              <a:buNone/>
            </a:pPr>
            <a:r>
              <a:rPr lang="en-US" dirty="0"/>
              <a:t>• To generate meaningful insights that support data-driven decision-making</a:t>
            </a:r>
            <a:endParaRPr lang="en-IN" dirty="0"/>
          </a:p>
        </p:txBody>
      </p:sp>
    </p:spTree>
    <p:extLst>
      <p:ext uri="{BB962C8B-B14F-4D97-AF65-F5344CB8AC3E}">
        <p14:creationId xmlns:p14="http://schemas.microsoft.com/office/powerpoint/2010/main" val="3059668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0D226-CD79-D48F-E6E9-ADA7E13318B1}"/>
              </a:ext>
            </a:extLst>
          </p:cNvPr>
          <p:cNvSpPr>
            <a:spLocks noGrp="1"/>
          </p:cNvSpPr>
          <p:nvPr>
            <p:ph type="title"/>
          </p:nvPr>
        </p:nvSpPr>
        <p:spPr>
          <a:xfrm>
            <a:off x="228600" y="123042"/>
            <a:ext cx="10515600" cy="1325563"/>
          </a:xfrm>
        </p:spPr>
        <p:txBody>
          <a:bodyPr/>
          <a:lstStyle/>
          <a:p>
            <a:r>
              <a:rPr lang="en-US" b="1" dirty="0">
                <a:solidFill>
                  <a:srgbClr val="FF0000"/>
                </a:solidFill>
              </a:rPr>
              <a:t>Dashboard</a:t>
            </a:r>
            <a:endParaRPr lang="en-IN" b="1" dirty="0">
              <a:solidFill>
                <a:srgbClr val="FF0000"/>
              </a:solidFill>
            </a:endParaRPr>
          </a:p>
        </p:txBody>
      </p:sp>
      <p:pic>
        <p:nvPicPr>
          <p:cNvPr id="6" name="Picture 5">
            <a:extLst>
              <a:ext uri="{FF2B5EF4-FFF2-40B4-BE49-F238E27FC236}">
                <a16:creationId xmlns:a16="http://schemas.microsoft.com/office/drawing/2014/main" id="{B63BC3F9-38FD-5440-287B-2AD2263B95EC}"/>
              </a:ext>
            </a:extLst>
          </p:cNvPr>
          <p:cNvPicPr>
            <a:picLocks noChangeAspect="1"/>
          </p:cNvPicPr>
          <p:nvPr/>
        </p:nvPicPr>
        <p:blipFill>
          <a:blip r:embed="rId2"/>
          <a:stretch>
            <a:fillRect/>
          </a:stretch>
        </p:blipFill>
        <p:spPr>
          <a:xfrm>
            <a:off x="501445" y="990486"/>
            <a:ext cx="10923639" cy="5186477"/>
          </a:xfrm>
          <a:prstGeom prst="rect">
            <a:avLst/>
          </a:prstGeom>
        </p:spPr>
      </p:pic>
    </p:spTree>
    <p:extLst>
      <p:ext uri="{BB962C8B-B14F-4D97-AF65-F5344CB8AC3E}">
        <p14:creationId xmlns:p14="http://schemas.microsoft.com/office/powerpoint/2010/main" val="2432218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9644-C0CA-8099-90C7-E1CEDB5395E4}"/>
              </a:ext>
            </a:extLst>
          </p:cNvPr>
          <p:cNvSpPr>
            <a:spLocks noGrp="1"/>
          </p:cNvSpPr>
          <p:nvPr>
            <p:ph type="title"/>
          </p:nvPr>
        </p:nvSpPr>
        <p:spPr>
          <a:xfrm>
            <a:off x="0" y="0"/>
            <a:ext cx="10515600" cy="1325563"/>
          </a:xfrm>
        </p:spPr>
        <p:txBody>
          <a:bodyPr/>
          <a:lstStyle/>
          <a:p>
            <a:r>
              <a:rPr lang="en-US" b="1" dirty="0">
                <a:solidFill>
                  <a:srgbClr val="FF0000"/>
                </a:solidFill>
              </a:rPr>
              <a:t>Dashboard</a:t>
            </a:r>
            <a:endParaRPr lang="en-IN" b="1" dirty="0">
              <a:solidFill>
                <a:srgbClr val="FF0000"/>
              </a:solidFill>
            </a:endParaRPr>
          </a:p>
        </p:txBody>
      </p:sp>
      <p:pic>
        <p:nvPicPr>
          <p:cNvPr id="5" name="Picture 4">
            <a:extLst>
              <a:ext uri="{FF2B5EF4-FFF2-40B4-BE49-F238E27FC236}">
                <a16:creationId xmlns:a16="http://schemas.microsoft.com/office/drawing/2014/main" id="{A2247786-A55F-4219-9F3C-E18D3A7FCCF4}"/>
              </a:ext>
            </a:extLst>
          </p:cNvPr>
          <p:cNvPicPr>
            <a:picLocks noChangeAspect="1"/>
          </p:cNvPicPr>
          <p:nvPr/>
        </p:nvPicPr>
        <p:blipFill>
          <a:blip r:embed="rId2"/>
          <a:stretch>
            <a:fillRect/>
          </a:stretch>
        </p:blipFill>
        <p:spPr>
          <a:xfrm>
            <a:off x="521110" y="934065"/>
            <a:ext cx="10923638" cy="5220929"/>
          </a:xfrm>
          <a:prstGeom prst="rect">
            <a:avLst/>
          </a:prstGeom>
        </p:spPr>
      </p:pic>
    </p:spTree>
    <p:extLst>
      <p:ext uri="{BB962C8B-B14F-4D97-AF65-F5344CB8AC3E}">
        <p14:creationId xmlns:p14="http://schemas.microsoft.com/office/powerpoint/2010/main" val="3755652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ADD89-4F6F-7D70-053E-034ED7800A39}"/>
              </a:ext>
            </a:extLst>
          </p:cNvPr>
          <p:cNvSpPr>
            <a:spLocks noGrp="1"/>
          </p:cNvSpPr>
          <p:nvPr>
            <p:ph type="title"/>
          </p:nvPr>
        </p:nvSpPr>
        <p:spPr>
          <a:xfrm>
            <a:off x="0" y="0"/>
            <a:ext cx="10515600" cy="1325563"/>
          </a:xfrm>
        </p:spPr>
        <p:txBody>
          <a:bodyPr/>
          <a:lstStyle/>
          <a:p>
            <a:r>
              <a:rPr lang="en-US" b="1" dirty="0">
                <a:solidFill>
                  <a:srgbClr val="FF0000"/>
                </a:solidFill>
              </a:rPr>
              <a:t>Dashboard</a:t>
            </a:r>
            <a:endParaRPr lang="en-IN" b="1" dirty="0">
              <a:solidFill>
                <a:srgbClr val="FF0000"/>
              </a:solidFill>
            </a:endParaRPr>
          </a:p>
        </p:txBody>
      </p:sp>
      <p:pic>
        <p:nvPicPr>
          <p:cNvPr id="5" name="Picture 4">
            <a:extLst>
              <a:ext uri="{FF2B5EF4-FFF2-40B4-BE49-F238E27FC236}">
                <a16:creationId xmlns:a16="http://schemas.microsoft.com/office/drawing/2014/main" id="{CD5F3790-F750-4300-DC42-D860287FD94E}"/>
              </a:ext>
            </a:extLst>
          </p:cNvPr>
          <p:cNvPicPr>
            <a:picLocks noChangeAspect="1"/>
          </p:cNvPicPr>
          <p:nvPr/>
        </p:nvPicPr>
        <p:blipFill>
          <a:blip r:embed="rId2"/>
          <a:stretch>
            <a:fillRect/>
          </a:stretch>
        </p:blipFill>
        <p:spPr>
          <a:xfrm>
            <a:off x="481780" y="904567"/>
            <a:ext cx="11110451" cy="5250427"/>
          </a:xfrm>
          <a:prstGeom prst="rect">
            <a:avLst/>
          </a:prstGeom>
        </p:spPr>
      </p:pic>
    </p:spTree>
    <p:extLst>
      <p:ext uri="{BB962C8B-B14F-4D97-AF65-F5344CB8AC3E}">
        <p14:creationId xmlns:p14="http://schemas.microsoft.com/office/powerpoint/2010/main" val="2292522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A8EE-7EA3-8FFD-23DC-D1C77367F178}"/>
              </a:ext>
            </a:extLst>
          </p:cNvPr>
          <p:cNvSpPr>
            <a:spLocks noGrp="1"/>
          </p:cNvSpPr>
          <p:nvPr>
            <p:ph type="title"/>
          </p:nvPr>
        </p:nvSpPr>
        <p:spPr>
          <a:xfrm>
            <a:off x="164432" y="172620"/>
            <a:ext cx="10515600" cy="1325563"/>
          </a:xfrm>
        </p:spPr>
        <p:txBody>
          <a:bodyPr/>
          <a:lstStyle/>
          <a:p>
            <a:r>
              <a:rPr lang="en-US" b="1">
                <a:solidFill>
                  <a:srgbClr val="FF0000"/>
                </a:solidFill>
              </a:rPr>
              <a:t>Dashboard</a:t>
            </a:r>
            <a:endParaRPr lang="en-IN" b="1" dirty="0">
              <a:solidFill>
                <a:srgbClr val="FF0000"/>
              </a:solidFill>
            </a:endParaRPr>
          </a:p>
        </p:txBody>
      </p:sp>
      <p:pic>
        <p:nvPicPr>
          <p:cNvPr id="5" name="Picture 4">
            <a:extLst>
              <a:ext uri="{FF2B5EF4-FFF2-40B4-BE49-F238E27FC236}">
                <a16:creationId xmlns:a16="http://schemas.microsoft.com/office/drawing/2014/main" id="{3E23EB2D-FE2C-4273-B4F9-1A675D78F403}"/>
              </a:ext>
            </a:extLst>
          </p:cNvPr>
          <p:cNvPicPr>
            <a:picLocks noChangeAspect="1"/>
          </p:cNvPicPr>
          <p:nvPr/>
        </p:nvPicPr>
        <p:blipFill>
          <a:blip r:embed="rId2"/>
          <a:stretch>
            <a:fillRect/>
          </a:stretch>
        </p:blipFill>
        <p:spPr>
          <a:xfrm>
            <a:off x="707922" y="1071716"/>
            <a:ext cx="10599175" cy="5053782"/>
          </a:xfrm>
          <a:prstGeom prst="rect">
            <a:avLst/>
          </a:prstGeom>
        </p:spPr>
      </p:pic>
    </p:spTree>
    <p:extLst>
      <p:ext uri="{BB962C8B-B14F-4D97-AF65-F5344CB8AC3E}">
        <p14:creationId xmlns:p14="http://schemas.microsoft.com/office/powerpoint/2010/main" val="214530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53856-6B7E-3D6B-B4A2-960273A8F433}"/>
              </a:ext>
            </a:extLst>
          </p:cNvPr>
          <p:cNvSpPr>
            <a:spLocks noGrp="1"/>
          </p:cNvSpPr>
          <p:nvPr>
            <p:ph type="title"/>
          </p:nvPr>
        </p:nvSpPr>
        <p:spPr/>
        <p:txBody>
          <a:bodyPr/>
          <a:lstStyle/>
          <a:p>
            <a:r>
              <a:rPr lang="en-US" b="1" dirty="0">
                <a:solidFill>
                  <a:srgbClr val="FF0000"/>
                </a:solidFill>
              </a:rPr>
              <a:t>Conclusion</a:t>
            </a:r>
            <a:endParaRPr lang="en-IN" b="1" dirty="0">
              <a:solidFill>
                <a:srgbClr val="FF0000"/>
              </a:solidFill>
            </a:endParaRPr>
          </a:p>
        </p:txBody>
      </p:sp>
      <p:sp>
        <p:nvSpPr>
          <p:cNvPr id="3" name="Text Placeholder 2">
            <a:extLst>
              <a:ext uri="{FF2B5EF4-FFF2-40B4-BE49-F238E27FC236}">
                <a16:creationId xmlns:a16="http://schemas.microsoft.com/office/drawing/2014/main" id="{AA8192C9-2DE7-B8A2-3572-5F919EE5D080}"/>
              </a:ext>
            </a:extLst>
          </p:cNvPr>
          <p:cNvSpPr>
            <a:spLocks noGrp="1"/>
          </p:cNvSpPr>
          <p:nvPr>
            <p:ph type="body" idx="1"/>
          </p:nvPr>
        </p:nvSpPr>
        <p:spPr/>
        <p:txBody>
          <a:bodyPr>
            <a:normAutofit fontScale="40000" lnSpcReduction="20000"/>
          </a:bodyPr>
          <a:lstStyle/>
          <a:p>
            <a:pPr marL="114300" indent="0">
              <a:buNone/>
            </a:pPr>
            <a:r>
              <a:rPr lang="en-US" dirty="0"/>
              <a:t>• Successfully built an interactive EV Analytics Dashboard using Power BI</a:t>
            </a:r>
          </a:p>
          <a:p>
            <a:endParaRPr lang="en-US" dirty="0"/>
          </a:p>
          <a:p>
            <a:pPr marL="114300" indent="0">
              <a:buNone/>
            </a:pPr>
            <a:r>
              <a:rPr lang="en-US" dirty="0"/>
              <a:t>• Analyzed EV growth trends across different years and regions</a:t>
            </a:r>
          </a:p>
          <a:p>
            <a:endParaRPr lang="en-US" dirty="0"/>
          </a:p>
          <a:p>
            <a:pPr marL="114300" indent="0">
              <a:buNone/>
            </a:pPr>
            <a:r>
              <a:rPr lang="en-US" dirty="0"/>
              <a:t>• Compared EV adoption by categories, powertrains, and transport modes</a:t>
            </a:r>
          </a:p>
          <a:p>
            <a:endParaRPr lang="en-US" dirty="0"/>
          </a:p>
          <a:p>
            <a:pPr marL="114300" indent="0">
              <a:buNone/>
            </a:pPr>
            <a:r>
              <a:rPr lang="en-US" dirty="0"/>
              <a:t>• Performed data cleaning and transformation for accurate analysis</a:t>
            </a:r>
          </a:p>
          <a:p>
            <a:endParaRPr lang="en-US" dirty="0"/>
          </a:p>
          <a:p>
            <a:pPr marL="114300" indent="0">
              <a:buNone/>
            </a:pPr>
            <a:r>
              <a:rPr lang="en-US" dirty="0"/>
              <a:t>• Created DAX measures and calculated columns for advanced insights</a:t>
            </a:r>
          </a:p>
          <a:p>
            <a:endParaRPr lang="en-US" dirty="0"/>
          </a:p>
          <a:p>
            <a:pPr marL="114300" indent="0">
              <a:buNone/>
            </a:pPr>
            <a:r>
              <a:rPr lang="en-US" dirty="0"/>
              <a:t>• Visualized sales, stock, energy consumption, and registrations effectively</a:t>
            </a:r>
          </a:p>
          <a:p>
            <a:endParaRPr lang="en-US" dirty="0"/>
          </a:p>
          <a:p>
            <a:pPr marL="114300" indent="0">
              <a:buNone/>
            </a:pPr>
            <a:r>
              <a:rPr lang="en-US" dirty="0"/>
              <a:t>• Developed multiple dashboard pages for regional, powertrain, parameter, and time-series analysis</a:t>
            </a:r>
          </a:p>
          <a:p>
            <a:endParaRPr lang="en-US" dirty="0"/>
          </a:p>
          <a:p>
            <a:pPr marL="114300" indent="0">
              <a:buNone/>
            </a:pPr>
            <a:r>
              <a:rPr lang="en-US" dirty="0"/>
              <a:t>• Generated meaningful insights to support data-driven decision-making</a:t>
            </a:r>
          </a:p>
          <a:p>
            <a:endParaRPr lang="en-US" dirty="0"/>
          </a:p>
          <a:p>
            <a:pPr marL="114300" indent="0">
              <a:buNone/>
            </a:pPr>
            <a:r>
              <a:rPr lang="en-US" dirty="0"/>
              <a:t>• Improved understanding of Power BI dashboard design and business analytics concepts</a:t>
            </a:r>
            <a:endParaRPr lang="en-IN" dirty="0"/>
          </a:p>
        </p:txBody>
      </p:sp>
    </p:spTree>
    <p:extLst>
      <p:ext uri="{BB962C8B-B14F-4D97-AF65-F5344CB8AC3E}">
        <p14:creationId xmlns:p14="http://schemas.microsoft.com/office/powerpoint/2010/main" val="3822997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4CC90-F1DA-4905-C4EA-8D7CD5E194BB}"/>
              </a:ext>
            </a:extLst>
          </p:cNvPr>
          <p:cNvSpPr>
            <a:spLocks noGrp="1"/>
          </p:cNvSpPr>
          <p:nvPr>
            <p:ph type="title"/>
          </p:nvPr>
        </p:nvSpPr>
        <p:spPr/>
        <p:txBody>
          <a:bodyPr/>
          <a:lstStyle/>
          <a:p>
            <a:r>
              <a:rPr lang="en-US" b="1" dirty="0">
                <a:solidFill>
                  <a:srgbClr val="FF0000"/>
                </a:solidFill>
              </a:rPr>
              <a:t>Recommendations</a:t>
            </a:r>
            <a:endParaRPr lang="en-IN" b="1" dirty="0">
              <a:solidFill>
                <a:srgbClr val="FF0000"/>
              </a:solidFill>
            </a:endParaRPr>
          </a:p>
        </p:txBody>
      </p:sp>
      <p:sp>
        <p:nvSpPr>
          <p:cNvPr id="3" name="Text Placeholder 2">
            <a:extLst>
              <a:ext uri="{FF2B5EF4-FFF2-40B4-BE49-F238E27FC236}">
                <a16:creationId xmlns:a16="http://schemas.microsoft.com/office/drawing/2014/main" id="{604EEE99-8945-F34A-1458-F6818236BA04}"/>
              </a:ext>
            </a:extLst>
          </p:cNvPr>
          <p:cNvSpPr>
            <a:spLocks noGrp="1"/>
          </p:cNvSpPr>
          <p:nvPr>
            <p:ph type="body" idx="1"/>
          </p:nvPr>
        </p:nvSpPr>
        <p:spPr/>
        <p:txBody>
          <a:bodyPr>
            <a:normAutofit fontScale="40000" lnSpcReduction="20000"/>
          </a:bodyPr>
          <a:lstStyle/>
          <a:p>
            <a:r>
              <a:rPr lang="en-US" dirty="0"/>
              <a:t>• Focus on expanding EV infrastructure in regions showing high growth potential</a:t>
            </a:r>
          </a:p>
          <a:p>
            <a:endParaRPr lang="en-US" dirty="0"/>
          </a:p>
          <a:p>
            <a:r>
              <a:rPr lang="en-US" dirty="0"/>
              <a:t>• Encourage the adoption of dominant powertrain technologies such as BEVs through policy support</a:t>
            </a:r>
          </a:p>
          <a:p>
            <a:endParaRPr lang="en-US" dirty="0"/>
          </a:p>
          <a:p>
            <a:r>
              <a:rPr lang="en-US" dirty="0"/>
              <a:t>• Improve charging station availability to support increasing EV demand</a:t>
            </a:r>
          </a:p>
          <a:p>
            <a:endParaRPr lang="en-US" dirty="0"/>
          </a:p>
          <a:p>
            <a:r>
              <a:rPr lang="en-US" dirty="0"/>
              <a:t>• Monitor regional EV sales and stock trends regularly for better planning and forecasting</a:t>
            </a:r>
          </a:p>
          <a:p>
            <a:endParaRPr lang="en-US" dirty="0"/>
          </a:p>
          <a:p>
            <a:r>
              <a:rPr lang="en-US" dirty="0"/>
              <a:t>• Promote sustainable transport policies to accelerate EV adoption globally</a:t>
            </a:r>
          </a:p>
          <a:p>
            <a:endParaRPr lang="en-US" dirty="0"/>
          </a:p>
          <a:p>
            <a:r>
              <a:rPr lang="en-US" dirty="0"/>
              <a:t>• Use real-time data integration for more accurate and dynamic dashboard insights</a:t>
            </a:r>
          </a:p>
          <a:p>
            <a:endParaRPr lang="en-US" dirty="0"/>
          </a:p>
          <a:p>
            <a:r>
              <a:rPr lang="en-US" dirty="0"/>
              <a:t>• Enhance future dashboards with predictive analytics and forecasting models</a:t>
            </a:r>
          </a:p>
          <a:p>
            <a:endParaRPr lang="en-US" dirty="0"/>
          </a:p>
          <a:p>
            <a:r>
              <a:rPr lang="en-US" dirty="0"/>
              <a:t>• Continuously track energy consumption and environmental impact metrics for sustainable development</a:t>
            </a:r>
          </a:p>
          <a:p>
            <a:endParaRPr lang="en-US" dirty="0"/>
          </a:p>
          <a:p>
            <a:r>
              <a:rPr lang="en-US" dirty="0"/>
              <a:t>• Utilize interactive dashboards for faster business analysis and strategic decision-making</a:t>
            </a:r>
            <a:endParaRPr lang="en-IN" dirty="0"/>
          </a:p>
        </p:txBody>
      </p:sp>
    </p:spTree>
    <p:extLst>
      <p:ext uri="{BB962C8B-B14F-4D97-AF65-F5344CB8AC3E}">
        <p14:creationId xmlns:p14="http://schemas.microsoft.com/office/powerpoint/2010/main" val="3328431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706</Words>
  <Application>Microsoft Office PowerPoint</Application>
  <PresentationFormat>Widescreen</PresentationFormat>
  <Paragraphs>90</Paragraphs>
  <Slides>13</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Wingdings</vt:lpstr>
      <vt:lpstr>Calibri</vt:lpstr>
      <vt:lpstr>Lato Black</vt:lpstr>
      <vt:lpstr>Libre Baskerville</vt:lpstr>
      <vt:lpstr>Arial</vt:lpstr>
      <vt:lpstr>Office Theme</vt:lpstr>
      <vt:lpstr>PowerPoint Presentation</vt:lpstr>
      <vt:lpstr>PowerPoint Presentation</vt:lpstr>
      <vt:lpstr>Agenda   </vt:lpstr>
      <vt:lpstr>Business Problem</vt:lpstr>
      <vt:lpstr>Problem Statement</vt:lpstr>
      <vt:lpstr>Objective</vt:lpstr>
      <vt:lpstr>Dashboard</vt:lpstr>
      <vt:lpstr>Dashboard</vt:lpstr>
      <vt:lpstr>Dashboard</vt:lpstr>
      <vt:lpstr>Dashboard</vt:lpstr>
      <vt:lpstr>Conclusion</vt:lpstr>
      <vt:lpstr>Recommendations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Gangireddy Uttejreddy</cp:lastModifiedBy>
  <cp:revision>12</cp:revision>
  <dcterms:created xsi:type="dcterms:W3CDTF">2021-02-16T05:19:01Z</dcterms:created>
  <dcterms:modified xsi:type="dcterms:W3CDTF">2026-05-13T19:08:40Z</dcterms:modified>
</cp:coreProperties>
</file>